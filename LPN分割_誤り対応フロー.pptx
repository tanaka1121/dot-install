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latin typeface="メイリオ"/>
              </a:rPr>
              <a:t>場合分け：LPN分割　誤り対応フロー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822960"/>
            <a:ext cx="2468880" cy="822960"/>
          </a:xfrm>
          <a:prstGeom prst="roundRect">
            <a:avLst/>
          </a:prstGeom>
          <a:solidFill>
            <a:srgbClr val="E7E6E6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0">
                <a:solidFill>
                  <a:srgbClr val="000000"/>
                </a:solidFill>
                <a:latin typeface="メイリオ"/>
              </a:rPr>
              <a:t>①LPN分割を忘れて
即出荷してしまった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965960"/>
            <a:ext cx="2468880" cy="822960"/>
          </a:xfrm>
          <a:prstGeom prst="roundRect">
            <a:avLst/>
          </a:prstGeom>
          <a:solidFill>
            <a:srgbClr val="E7E6E6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0">
                <a:solidFill>
                  <a:srgbClr val="000000"/>
                </a:solidFill>
                <a:latin typeface="メイリオ"/>
              </a:rPr>
              <a:t>②LPN分割で
数量を誤った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3520440"/>
            <a:ext cx="2468880" cy="822960"/>
          </a:xfrm>
          <a:prstGeom prst="roundRect">
            <a:avLst/>
          </a:prstGeom>
          <a:solidFill>
            <a:srgbClr val="E7E6E6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0">
                <a:solidFill>
                  <a:srgbClr val="000000"/>
                </a:solidFill>
                <a:latin typeface="メイリオ"/>
              </a:rPr>
              <a:t>③LPN分割を
過剰に行った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4617720"/>
            <a:ext cx="2468880" cy="822960"/>
          </a:xfrm>
          <a:prstGeom prst="roundRect">
            <a:avLst/>
          </a:prstGeom>
          <a:solidFill>
            <a:srgbClr val="E7E6E6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0">
                <a:solidFill>
                  <a:srgbClr val="000000"/>
                </a:solidFill>
                <a:latin typeface="メイリオ"/>
              </a:rPr>
              <a:t>④複数部材の分割を
途中で中断した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715000"/>
            <a:ext cx="2468880" cy="822960"/>
          </a:xfrm>
          <a:prstGeom prst="roundRect">
            <a:avLst/>
          </a:prstGeom>
          <a:solidFill>
            <a:srgbClr val="E7E6E6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0">
                <a:solidFill>
                  <a:srgbClr val="000000"/>
                </a:solidFill>
                <a:latin typeface="メイリオ"/>
              </a:rPr>
              <a:t>⑤プリンタの設定を
しないままLPN分割した</a:t>
            </a:r>
          </a:p>
        </p:txBody>
      </p:sp>
      <p:sp>
        <p:nvSpPr>
          <p:cNvPr id="8" name="Diamond 7"/>
          <p:cNvSpPr/>
          <p:nvPr/>
        </p:nvSpPr>
        <p:spPr>
          <a:xfrm>
            <a:off x="3383280" y="685800"/>
            <a:ext cx="1828800" cy="1097280"/>
          </a:xfrm>
          <a:prstGeom prst="diamond">
            <a:avLst/>
          </a:prstGeom>
          <a:solidFill>
            <a:srgbClr val="FFE699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0">
                <a:solidFill>
                  <a:srgbClr val="000000"/>
                </a:solidFill>
                <a:latin typeface="メイリオ"/>
              </a:rPr>
              <a:t>即出荷後に
LPN分割したか？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457200"/>
            <a:ext cx="2377440" cy="77724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000000"/>
                </a:solidFill>
                <a:latin typeface="メイリオ"/>
              </a:rPr>
              <a:t>oLPN統合</a:t>
            </a:r>
          </a:p>
        </p:txBody>
      </p:sp>
      <p:sp>
        <p:nvSpPr>
          <p:cNvPr id="10" name="Diamond 9"/>
          <p:cNvSpPr/>
          <p:nvPr/>
        </p:nvSpPr>
        <p:spPr>
          <a:xfrm>
            <a:off x="5760720" y="1828800"/>
            <a:ext cx="1645920" cy="1097280"/>
          </a:xfrm>
          <a:prstGeom prst="diamond">
            <a:avLst/>
          </a:prstGeom>
          <a:solidFill>
            <a:srgbClr val="FFE699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0">
                <a:solidFill>
                  <a:srgbClr val="000000"/>
                </a:solidFill>
                <a:latin typeface="メイリオ"/>
              </a:rPr>
              <a:t>1RECか？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377440" cy="77724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000000"/>
                </a:solidFill>
                <a:latin typeface="メイリオ"/>
              </a:rPr>
              <a:t>国内梱包_1REC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2743200"/>
            <a:ext cx="2651760" cy="91440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000000"/>
                </a:solidFill>
                <a:latin typeface="メイリオ"/>
              </a:rPr>
              <a:t>国内梱包_複数REC
＋イレギュラー置き場へ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3520440"/>
            <a:ext cx="2926080" cy="82296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000000"/>
                </a:solidFill>
                <a:latin typeface="メイリオ"/>
              </a:rPr>
              <a:t>分割ラベルを使用する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617720"/>
            <a:ext cx="2926080" cy="82296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000000"/>
                </a:solidFill>
                <a:latin typeface="メイリオ"/>
              </a:rPr>
              <a:t>親部材集約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5715000"/>
            <a:ext cx="2926080" cy="82296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000000"/>
                </a:solidFill>
                <a:latin typeface="メイリオ"/>
              </a:rPr>
              <a:t>MAからラベル再印刷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34640" y="1234440"/>
            <a:ext cx="548640" cy="0"/>
          </a:xfrm>
          <a:prstGeom prst="bentConnector3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297680" y="685800"/>
            <a:ext cx="4480560" cy="160020"/>
          </a:xfrm>
          <a:prstGeom prst="bentConnector3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172200" y="601218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375623"/>
                </a:solidFill>
                <a:latin typeface="メイリオ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297680" y="1783080"/>
            <a:ext cx="2286000" cy="45720"/>
          </a:xfrm>
          <a:prstGeom prst="bentConnector3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74920" y="1641348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9C0006"/>
                </a:solidFill>
                <a:latin typeface="メイリオ"/>
              </a:rPr>
              <a:t>NO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0" y="1828800"/>
            <a:ext cx="2194560" cy="160020"/>
          </a:xfrm>
          <a:prstGeom prst="bentConnector3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0" y="1744218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375623"/>
                </a:solidFill>
                <a:latin typeface="メイリオ"/>
              </a:rPr>
              <a:t>YES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0" y="2926080"/>
            <a:ext cx="2194560" cy="274320"/>
          </a:xfrm>
          <a:prstGeom prst="bentConnector3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0" y="2898648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9C0006"/>
                </a:solidFill>
                <a:latin typeface="メイリオ"/>
              </a:rPr>
              <a:t>NO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834640" y="845820"/>
            <a:ext cx="5943600" cy="1531620"/>
          </a:xfrm>
          <a:prstGeom prst="bentConnector3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834640" y="3931920"/>
            <a:ext cx="822960" cy="0"/>
          </a:xfrm>
          <a:prstGeom prst="bentConnector3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834640" y="5029200"/>
            <a:ext cx="822960" cy="0"/>
          </a:xfrm>
          <a:prstGeom prst="bentConnector3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834640" y="6126480"/>
            <a:ext cx="822960" cy="0"/>
          </a:xfrm>
          <a:prstGeom prst="bentConnector3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